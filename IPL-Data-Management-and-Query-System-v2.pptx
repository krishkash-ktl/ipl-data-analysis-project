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Bodoni MT Black" panose="02070A03080606020203" pitchFamily="18" charset="0"/>
      <p:bold r:id="rId15"/>
      <p:boldItalic r:id="rId16"/>
    </p:embeddedFont>
    <p:embeddedFont>
      <p:font typeface="Krona One" panose="020B0604020202020204" charset="0"/>
      <p:regular r:id="rId17"/>
    </p:embeddedFont>
    <p:embeddedFont>
      <p:font typeface="Lexend" panose="020B0604020202020204" charset="0"/>
      <p:regular r:id="rId18"/>
    </p:embeddedFont>
    <p:embeddedFont>
      <p:font typeface="Lexend Bold" panose="020B0604020202020204" charset="0"/>
      <p:regular r:id="rId19"/>
    </p:embeddedFont>
    <p:embeddedFont>
      <p:font typeface="Lexend Medium" panose="020B0604020202020204" charset="0"/>
      <p:regular r:id="rId20"/>
    </p:embeddedFont>
    <p:embeddedFont>
      <p:font typeface="Martian Mono Medium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2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upgrade paths as a roadmap: interface, data scale, and predictive intelligence. The current project is the descriptive foundation for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point to the GitHub repository for code and data flow, and cite the supplied IPL project architecture description as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krrishkh/IPL-Data-Management-Query-Systems/tree/main/normalized%20csvs" TargetMode="External"/><Relationship Id="rId4" Type="http://schemas.openxmlformats.org/officeDocument/2006/relationships/hyperlink" Target="https://github.com/krrishkh/IPL-Data-Management-Query-Systems/blob/main/normalized%20csvs/match.csv" TargetMode="External"/><Relationship Id="rId5" Type="http://schemas.openxmlformats.org/officeDocument/2006/relationships/hyperlink" Target="https://github.com/krrishkh/IPL-Data-Management-Query-Systems/blob/main/normalized%20csvs/delivery.csv" TargetMode="External"/><Relationship Id="rId6" Type="http://schemas.openxmlformats.org/officeDocument/2006/relationships/hyperlink" Target="https://github.com/krrishkh/IPL-Data-Management-Query-Systems/blob/main/normalized%20csvs/dismissals.csv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krrishkh/IPL-Data-Management-Query-Systems/blob/main/main_code.p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KrishKash-KTL/IPL-Data-Analysis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058545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PYTHON-DRIVEN CRICKET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407781"/>
            <a:ext cx="5816454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92D050"/>
                </a:solidFill>
                <a:latin typeface="Bodoni MT Black" panose="02070A03080606020203" pitchFamily="18" charset="0"/>
                <a:ea typeface="Krona One" pitchFamily="34" charset="-122"/>
                <a:cs typeface="Krona One" pitchFamily="34" charset="0"/>
              </a:rPr>
              <a:t>IPL Data</a:t>
            </a:r>
            <a:endParaRPr lang="en-US" sz="4600" dirty="0">
              <a:solidFill>
                <a:srgbClr val="92D050"/>
              </a:solidFill>
              <a:latin typeface="Bodoni MT Black" panose="02070A03080606020203" pitchFamily="18" charset="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92D050"/>
                </a:solidFill>
                <a:latin typeface="Bodoni MT Black" panose="02070A03080606020203" pitchFamily="18" charset="0"/>
                <a:ea typeface="Krona One" pitchFamily="34" charset="-122"/>
                <a:cs typeface="Krona One" pitchFamily="34" charset="0"/>
              </a:rPr>
              <a:t>Management &amp;</a:t>
            </a:r>
            <a:endParaRPr lang="en-US" sz="4600" dirty="0">
              <a:solidFill>
                <a:srgbClr val="92D050"/>
              </a:solidFill>
              <a:latin typeface="Bodoni MT Black" panose="02070A03080606020203" pitchFamily="18" charset="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92D050"/>
                </a:solidFill>
                <a:latin typeface="Bodoni MT Black" panose="02070A03080606020203" pitchFamily="18" charset="0"/>
                <a:ea typeface="Krona One" pitchFamily="34" charset="-122"/>
                <a:cs typeface="Krona One" pitchFamily="34" charset="0"/>
              </a:rPr>
              <a:t>Query System</a:t>
            </a:r>
            <a:endParaRPr lang="en-US" sz="4600" dirty="0">
              <a:solidFill>
                <a:srgbClr val="92D050"/>
              </a:solidFill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7380" y="4203224"/>
            <a:ext cx="5816454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Prepared by       : </a:t>
            </a:r>
            <a:r>
              <a:rPr lang="en-US" sz="1200" dirty="0">
                <a:solidFill>
                  <a:srgbClr val="FFFF00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Krishna Kashyap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Uni. Roll no.        : 301302224165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College ERP ID  : 6605979</a:t>
            </a:r>
          </a:p>
          <a:p>
            <a:pPr marL="0" indent="0" algn="l">
              <a:lnSpc>
                <a:spcPct val="113000"/>
              </a:lnSpc>
              <a:buNone/>
            </a:pPr>
            <a:endParaRPr lang="en-US" sz="1200" dirty="0">
              <a:solidFill>
                <a:srgbClr val="FFFFFF"/>
              </a:solidFill>
              <a:latin typeface="Lexend" pitchFamily="34" charset="0"/>
              <a:ea typeface="Lexend" pitchFamily="34" charset="-122"/>
              <a:cs typeface="Lexend" pitchFamily="34" charset="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Institute : Chhattisgarh Swami Vivekananda Technical University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Company Name : MSME Technology Center vocational training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7380" y="6119574"/>
            <a:ext cx="642603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Data Analysis Project across 17 IPL seasons.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SYSTEM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From raw cricket data to an analytical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Convert match-level, ball-by-ball, and dismissal records into a reusable query system for player, team, venue, official, season, and match analysis.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45256" y="3503126"/>
            <a:ext cx="2819230" cy="3276600"/>
          </a:xfrm>
          <a:prstGeom prst="roundRect">
            <a:avLst>
              <a:gd name="adj" fmla="val 540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5275" y="4228032"/>
            <a:ext cx="251028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kern="100" spc="-2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   2008–2024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940" y="4973519"/>
            <a:ext cx="217154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IPL 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61943" y="3503126"/>
            <a:ext cx="2819329" cy="3276600"/>
          </a:xfrm>
          <a:prstGeom prst="roundRect">
            <a:avLst>
              <a:gd name="adj" fmla="val 5405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52657" y="4228032"/>
            <a:ext cx="156206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kern="100" spc="-2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52657" y="4794806"/>
            <a:ext cx="156206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normalized relational datasets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28" y="4201021"/>
            <a:ext cx="4724282" cy="20372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6903" y="4426213"/>
            <a:ext cx="2598011" cy="16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-5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Normalize Records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76903" y="4898644"/>
            <a:ext cx="2598011" cy="16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-5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Filter &amp; Join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6903" y="5366351"/>
            <a:ext cx="2598011" cy="16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-5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Create Datasets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76903" y="5834058"/>
            <a:ext cx="2598011" cy="16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-5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Generate Analyses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E4A136-900A-A708-54CF-746BA534DDD8}"/>
              </a:ext>
            </a:extLst>
          </p:cNvPr>
          <p:cNvSpPr txBox="1"/>
          <p:nvPr/>
        </p:nvSpPr>
        <p:spPr>
          <a:xfrm>
            <a:off x="6857828" y="2903046"/>
            <a:ext cx="4724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 normalization reduces redundancy, ensures entity integrity, and optimizes in-memory Pandas joins.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DATA ENGINEERING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Normalized data engineering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Join key: </a:t>
            </a: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match_id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56908"/>
              </p:ext>
            </p:extLst>
          </p:nvPr>
        </p:nvGraphicFramePr>
        <p:xfrm>
          <a:off x="609585" y="2064861"/>
          <a:ext cx="7126529" cy="4166393"/>
        </p:xfrm>
        <a:graphic>
          <a:graphicData uri="http://schemas.openxmlformats.org/drawingml/2006/table">
            <a:tbl>
              <a:tblPr/>
              <a:tblGrid>
                <a:gridCol w="171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2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Dataset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Fields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match.csv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seasons, venues, teams, toss, results, umpires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delivery.csv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innings, overs, balls, batsmen, bowlers, runs, extras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dismissals.csv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0"/>
                        </a:rPr>
                        <a:t>player out, dismissal type, fielder, bowler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D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890" y="6432766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Processing layer: in-memory Pandas.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7CE29-66C0-9885-21A0-1AF2E68081FE}"/>
              </a:ext>
            </a:extLst>
          </p:cNvPr>
          <p:cNvSpPr txBox="1"/>
          <p:nvPr/>
        </p:nvSpPr>
        <p:spPr>
          <a:xfrm>
            <a:off x="7736114" y="3040617"/>
            <a:ext cx="42381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rgbClr val="FFFF00"/>
                </a:solidFill>
              </a:rPr>
              <a:t>Normalized Data Folder: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  <a:r>
              <a:rPr lang="en-IN" sz="24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Normalized CSVs Directory Link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  <a:p>
            <a:pPr lvl="0"/>
            <a:r>
              <a:rPr lang="en-IN" sz="2400" b="1" dirty="0">
                <a:solidFill>
                  <a:srgbClr val="FFFF00"/>
                </a:solidFill>
              </a:rPr>
              <a:t>Match Data (match.csv):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  <a:r>
              <a:rPr lang="en-IN" sz="24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match.csv Link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  <a:p>
            <a:pPr lvl="0"/>
            <a:r>
              <a:rPr lang="en-IN" sz="2400" b="1" dirty="0">
                <a:solidFill>
                  <a:srgbClr val="FFFF00"/>
                </a:solidFill>
              </a:rPr>
              <a:t>Delivery Data (delivery.csv):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  <a:r>
              <a:rPr lang="en-IN" sz="2400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delivery.csv Link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  <a:p>
            <a:pPr lvl="0"/>
            <a:r>
              <a:rPr lang="en-IN" sz="2400" b="1" dirty="0">
                <a:solidFill>
                  <a:srgbClr val="FFFF00"/>
                </a:solidFill>
              </a:rPr>
              <a:t>Dismissals Data (dismissals.csv):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  <a:r>
              <a:rPr lang="en-IN" sz="2400" dirty="0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dismissals.csv Link</a:t>
            </a:r>
            <a:r>
              <a:rPr lang="en-IN" sz="2400" dirty="0">
                <a:solidFill>
                  <a:srgbClr val="FFFF00"/>
                </a:solidFill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QUERY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One CLI, many analytical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</a:rPr>
              <a:t>main_code.py</a:t>
            </a: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 turns a modular command-line interface into a single entry point for exploration, filtering, joins, aggregation, and real-time query output without an external database.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162101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User input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707249"/>
            <a:ext cx="25145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Menu navigation selects the analytical question.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8914" y="3162101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Dynamic filters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28914" y="3707249"/>
            <a:ext cx="25145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Player, team, venue, official, season, or match.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48244" y="3162101"/>
            <a:ext cx="251453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Filtered DataFrames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48244" y="4037449"/>
            <a:ext cx="25145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Relational joins connect the relevant records.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67573" y="3162101"/>
            <a:ext cx="251453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Insight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67573" y="3707249"/>
            <a:ext cx="25145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Aggregation logic returns query output in real time.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68997-9F6D-FC80-432C-7440F354C95F}"/>
              </a:ext>
            </a:extLst>
          </p:cNvPr>
          <p:cNvSpPr txBox="1"/>
          <p:nvPr/>
        </p:nvSpPr>
        <p:spPr>
          <a:xfrm>
            <a:off x="435429" y="6046588"/>
            <a:ext cx="319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See python code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650223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PLAYER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5892653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Player careers reveal peaks, not just totals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62282"/>
            <a:ext cx="5892653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Profile total runs, wickets, catches, and matches, then isolate each player's best season for runs or wickets to study peak performance and consistency.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4264819"/>
            <a:ext cx="2793930" cy="1983581"/>
          </a:xfrm>
          <a:prstGeom prst="roundRect">
            <a:avLst>
              <a:gd name="adj" fmla="val 768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7229" y="4529614"/>
            <a:ext cx="254628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CAREER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4847034"/>
            <a:ext cx="22986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Totals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7229" y="5392182"/>
            <a:ext cx="229864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runs · wickets · catches · matches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8307" y="4264819"/>
            <a:ext cx="2793930" cy="1983581"/>
          </a:xfrm>
          <a:prstGeom prst="roundRect">
            <a:avLst>
              <a:gd name="adj" fmla="val 7683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55951" y="4529614"/>
            <a:ext cx="254628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PEAK PROFILE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5951" y="4847034"/>
            <a:ext cx="229864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Best season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55951" y="5392182"/>
            <a:ext cx="229864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runs or wickets · consistency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11822" y="0"/>
            <a:ext cx="5079873" cy="6858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72" y="19050"/>
            <a:ext cx="5041774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TEAM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Head-to-head data turns rivalry into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Compare franchise win percentages, season-wise matchups, and the relative success of defending versus chasing totals after toss decisions.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737941"/>
            <a:ext cx="3454314" cy="2622352"/>
          </a:xfrm>
          <a:prstGeom prst="roundRect">
            <a:avLst>
              <a:gd name="adj" fmla="val 581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7229" y="3002736"/>
            <a:ext cx="32066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MATCHUP MATRIX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3320157"/>
            <a:ext cx="29590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Franchise versus franchise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7229" y="4195505"/>
            <a:ext cx="295902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Win percentages across recurring head-to-head pairings.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8691" y="2737941"/>
            <a:ext cx="3454314" cy="2622352"/>
          </a:xfrm>
          <a:prstGeom prst="roundRect">
            <a:avLst>
              <a:gd name="adj" fmla="val 581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6335" y="3002736"/>
            <a:ext cx="32066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SEASON LENS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6335" y="3320157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Matchups over time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6335" y="3865305"/>
            <a:ext cx="295902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Season-wise patterns show whether the rivalry shifts.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7797" y="2737941"/>
            <a:ext cx="3454314" cy="2622352"/>
          </a:xfrm>
          <a:prstGeom prst="roundRect">
            <a:avLst>
              <a:gd name="adj" fmla="val 5811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blurRad="201930" dist="127" dir="16200000" algn="bl" rotWithShape="0">
              <a:srgbClr val="FF9347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75440" y="3002736"/>
            <a:ext cx="32066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TACTICAL LENS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440" y="3320157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Defend or chase?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75440" y="3865305"/>
            <a:ext cx="2959026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Relate toss decisions to the relative success of defending versus chasing totals.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585" y="5642233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Team-specific percentages remain query outputs, not invented claims.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62301" cy="6915348"/>
          </a:xfrm>
          <a:prstGeom prst="roundRect">
            <a:avLst>
              <a:gd name="adj" fmla="val 3846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9050"/>
            <a:ext cx="3924202" cy="6877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76678" y="626745"/>
            <a:ext cx="73150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VENUE ANALYSIS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76678" y="946375"/>
            <a:ext cx="670543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Venues shape the game before the first ball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876678" y="2062282"/>
            <a:ext cx="6705432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Analyze average first-innings scores, leading wicket-takers by venue, and toss-win to match-win relationships to identify ground tendencies and potential fortress effects.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876678" y="3969742"/>
            <a:ext cx="2031949" cy="2336006"/>
          </a:xfrm>
          <a:prstGeom prst="roundRect">
            <a:avLst>
              <a:gd name="adj" fmla="val 750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124322" y="4234537"/>
            <a:ext cx="153666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RUN ENVIRONMENT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24322" y="4749998"/>
            <a:ext cx="153666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Average first-innings scores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213420" y="3969742"/>
            <a:ext cx="2031949" cy="2336006"/>
          </a:xfrm>
          <a:prstGeom prst="roundRect">
            <a:avLst>
              <a:gd name="adj" fmla="val 750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61063" y="4234537"/>
            <a:ext cx="153666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WICKET ENVIRONMENT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61063" y="4749998"/>
            <a:ext cx="153666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Leading wicket-takers by venue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550161" y="3969742"/>
            <a:ext cx="2031949" cy="2336006"/>
          </a:xfrm>
          <a:prstGeom prst="roundRect">
            <a:avLst>
              <a:gd name="adj" fmla="val 750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97805" y="4234537"/>
            <a:ext cx="178430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TOSS EFFECT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97805" y="4551958"/>
            <a:ext cx="153666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Toss-win to match-win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OFFICIALS AS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Officials become an analyzable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10972526" cy="1173460"/>
          </a:xfrm>
          <a:prstGeom prst="roundRect">
            <a:avLst>
              <a:gd name="adj" fmla="val 10909"/>
            </a:avLst>
          </a:prstGeom>
          <a:solidFill>
            <a:srgbClr val="002F80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2073771"/>
            <a:ext cx="38099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160" y="2034401"/>
            <a:ext cx="1028674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Exploratory analysis, not proof of bias.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09585" y="3088481"/>
            <a:ext cx="3454314" cy="2757686"/>
          </a:xfrm>
          <a:prstGeom prst="roundRect">
            <a:avLst>
              <a:gd name="adj" fmla="val 552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29" y="3336131"/>
            <a:ext cx="609585" cy="609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29" y="4136231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Coverage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57229" y="4681379"/>
            <a:ext cx="29590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Matches officiated per umpire.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368691" y="3088481"/>
            <a:ext cx="3454314" cy="2757686"/>
          </a:xfrm>
          <a:prstGeom prst="roundRect">
            <a:avLst>
              <a:gd name="adj" fmla="val 552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335" y="3336131"/>
            <a:ext cx="609585" cy="609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6335" y="4136231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Pairings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616335" y="4681379"/>
            <a:ext cx="320667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Recurring umpire pairings.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127797" y="3088481"/>
            <a:ext cx="3454314" cy="2757686"/>
          </a:xfrm>
          <a:prstGeom prst="roundRect">
            <a:avLst>
              <a:gd name="adj" fmla="val 552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440" y="3336131"/>
            <a:ext cx="609585" cy="609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75440" y="4136231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Relationships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375440" y="4681379"/>
            <a:ext cx="295902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Exploratory officiating presence and team win ratios.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509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Season metrics show how T20 evolves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320105"/>
            <a:ext cx="3505112" cy="2311698"/>
          </a:xfrm>
          <a:prstGeom prst="roundRect">
            <a:avLst>
              <a:gd name="adj" fmla="val 659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57229" y="1584900"/>
            <a:ext cx="32574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PLAYER AWARDS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7229" y="1902321"/>
            <a:ext cx="30098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Orange Cap leaders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2447469"/>
            <a:ext cx="325746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Season-wise run leaders.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19489" y="1320105"/>
            <a:ext cx="3403515" cy="2311698"/>
          </a:xfrm>
          <a:prstGeom prst="roundRect">
            <a:avLst>
              <a:gd name="adj" fmla="val 659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7133" y="1584900"/>
            <a:ext cx="315587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PLAYER AWARDS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7133" y="1902321"/>
            <a:ext cx="290822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Purple Cap leaders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7133" y="2447469"/>
            <a:ext cx="29082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Season-wise wicket leaders.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7797" y="1320105"/>
            <a:ext cx="3454314" cy="2311698"/>
          </a:xfrm>
          <a:prstGeom prst="roundRect">
            <a:avLst>
              <a:gd name="adj" fmla="val 659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75440" y="1584900"/>
            <a:ext cx="32066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POWER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75440" y="1902321"/>
            <a:ext cx="29590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Economical bowlers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75440" y="2447469"/>
            <a:ext cx="29590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Bowling efficiency by season.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585" y="3936603"/>
            <a:ext cx="3505112" cy="2311797"/>
          </a:xfrm>
          <a:prstGeom prst="roundRect">
            <a:avLst>
              <a:gd name="adj" fmla="val 659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7229" y="4201398"/>
            <a:ext cx="32574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POWER METRICS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7229" y="4518819"/>
            <a:ext cx="30098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High-strike-rate batters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7229" y="5063966"/>
            <a:ext cx="325746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Batting impact by season.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19489" y="3936603"/>
            <a:ext cx="7162621" cy="2311797"/>
          </a:xfrm>
          <a:prstGeom prst="roundRect">
            <a:avLst>
              <a:gd name="adj" fmla="val 6592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blurRad="201930" dist="127" dir="16200000" algn="bl" rotWithShape="0">
              <a:srgbClr val="FF9347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7133" y="4201398"/>
            <a:ext cx="691497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AGGREGATE 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7133" y="4518819"/>
            <a:ext cx="666733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Season-wise boundary patterns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67133" y="5063966"/>
            <a:ext cx="691497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A compact view of how T20 power changes over time.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MATCH-LEVEL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Match-level detail explains decisive moments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Surface highest match totals, game-changing partnerships, and boundary frequency across powerplay and death overs.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737941"/>
            <a:ext cx="5333867" cy="3141861"/>
          </a:xfrm>
          <a:prstGeom prst="roundRect">
            <a:avLst>
              <a:gd name="adj" fmla="val 485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7229" y="3002736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HERO MATCH NARRATIVE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3322697"/>
            <a:ext cx="48385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From total to turning point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7229" y="3934143"/>
            <a:ext cx="4838579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Use one match as the narrative spine, then trace the decisive moments.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48244" y="2983686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READ THE INNINGS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8244" y="3301107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Powerplay → middle overs → death overs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8244" y="3849112"/>
            <a:ext cx="53338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Boundary frequency shows where momentum changes.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48244" y="485110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Highest totals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91375" y="485110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Partnerships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48244" y="533370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Powerplay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91375" y="5333702"/>
            <a:ext cx="25907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Death overs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409"/>
            <a:ext cx="11582110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4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FUTURE UPGRADE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922216"/>
            <a:ext cx="10972526" cy="38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50" kern="100" spc="-1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From CLI analysis to a scalable analytics platform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09585" y="1580769"/>
            <a:ext cx="10972526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Three upgrade paths carry the project from scripts to dashboards, databases, and predictive models.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9585" y="2581473"/>
            <a:ext cx="3454314" cy="4041477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7229" y="2843933"/>
            <a:ext cx="3206670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4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INTERFACE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7229" y="3139928"/>
            <a:ext cx="2959026" cy="37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kern="100" spc="-11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CLI to dashboards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7229" y="3713476"/>
            <a:ext cx="2959026" cy="2671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Move from command-line queries to interactive Streamlit or Flask dashboards for coaches and analysts.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368691" y="2581473"/>
            <a:ext cx="3454314" cy="4041477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6335" y="2843933"/>
            <a:ext cx="3206670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4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DATA SCALE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6335" y="3139928"/>
            <a:ext cx="2959026" cy="753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kern="100" spc="-11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CSV and Pandas to databases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616335" y="4090209"/>
            <a:ext cx="2959026" cy="2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Shift from in-memory CSV and Pandas processing to PostgreSQL, and to PySpark for larger ball-by-ball data.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8127797" y="2581473"/>
            <a:ext cx="3454314" cy="4041477"/>
          </a:xfrm>
          <a:prstGeom prst="roundRect">
            <a:avLst>
              <a:gd name="adj" fmla="val 441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75440" y="2843933"/>
            <a:ext cx="3206670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4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INTELLIGENCE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75440" y="3139928"/>
            <a:ext cx="2959026" cy="753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kern="100" spc="-11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Descriptive to predictive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375440" y="4090209"/>
            <a:ext cx="2959026" cy="2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Extend descriptive analytics with XGBoost and LightGBM models for match outcome and score prediction.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430"/>
            <a:ext cx="109725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400" kern="100" spc="-17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729581"/>
            <a:ext cx="10972526" cy="109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Krishna Kashyap · Chhattisgarh Swami Vivekananda Technical University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Vocational training : MSME Technology Center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098602"/>
            <a:ext cx="5333867" cy="3423741"/>
          </a:xfrm>
          <a:prstGeom prst="roundRect">
            <a:avLst>
              <a:gd name="adj" fmla="val 44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7229" y="3363397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PROJECT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3683357"/>
            <a:ext cx="48385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GitHub repository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7229" y="4294803"/>
            <a:ext cx="4838579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Lexend Bold" pitchFamily="34" charset="0"/>
                <a:ea typeface="Lexend Bold" pitchFamily="34" charset="-122"/>
                <a:cs typeface="Lexend Bold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github.com/KrishKash-KTL/IPL-Data-Analysis-Project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48244" y="3098602"/>
            <a:ext cx="5333867" cy="3423741"/>
          </a:xfrm>
          <a:prstGeom prst="roundRect">
            <a:avLst>
              <a:gd name="adj" fmla="val 44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95887" y="3363397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0"/>
              </a:rPr>
              <a:t>REFERENCES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5887" y="3680817"/>
            <a:ext cx="48385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0"/>
              </a:rPr>
              <a:t>IPL data analysis project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5887" y="4228822"/>
            <a:ext cx="4838579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0"/>
              </a:rPr>
              <a:t>Architecture description of the supplied IPL Data Analysis Project, used as the basis for the CLI, normalized data, and analytics design in this deck.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886</Words>
  <Application>Microsoft Office PowerPoint</Application>
  <PresentationFormat>Widescreen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Lexend</vt:lpstr>
      <vt:lpstr>Bodoni MT Black</vt:lpstr>
      <vt:lpstr>Krona One</vt:lpstr>
      <vt:lpstr>Lexend Medium</vt:lpstr>
      <vt:lpstr>Lexend Bold</vt:lpstr>
      <vt:lpstr>Martian Mono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Kashyap</cp:lastModifiedBy>
  <cp:revision>2</cp:revision>
  <dcterms:created xsi:type="dcterms:W3CDTF">2026-10-29T06:22:19Z</dcterms:created>
  <dcterms:modified xsi:type="dcterms:W3CDTF">2026-10-29T07:09:29Z</dcterms:modified>
</cp:coreProperties>
</file>